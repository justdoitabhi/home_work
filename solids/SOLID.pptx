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3" r:id="rId5"/>
    <p:sldId id="265" r:id="rId6"/>
    <p:sldId id="258" r:id="rId7"/>
    <p:sldId id="283" r:id="rId8"/>
    <p:sldId id="275" r:id="rId9"/>
    <p:sldId id="267" r:id="rId10"/>
    <p:sldId id="268" r:id="rId11"/>
    <p:sldId id="269" r:id="rId12"/>
    <p:sldId id="270" r:id="rId13"/>
    <p:sldId id="271" r:id="rId14"/>
    <p:sldId id="272" r:id="rId15"/>
    <p:sldId id="277" r:id="rId16"/>
    <p:sldId id="278" r:id="rId17"/>
    <p:sldId id="279" r:id="rId18"/>
    <p:sldId id="280" r:id="rId19"/>
    <p:sldId id="281" r:id="rId20"/>
    <p:sldId id="282" r:id="rId21"/>
    <p:sldId id="259" r:id="rId22"/>
    <p:sldId id="284" r:id="rId23"/>
    <p:sldId id="286" r:id="rId24"/>
    <p:sldId id="292" r:id="rId25"/>
    <p:sldId id="287" r:id="rId26"/>
    <p:sldId id="288" r:id="rId27"/>
    <p:sldId id="289" r:id="rId28"/>
    <p:sldId id="290" r:id="rId29"/>
    <p:sldId id="291" r:id="rId30"/>
    <p:sldId id="293" r:id="rId31"/>
    <p:sldId id="294" r:id="rId32"/>
    <p:sldId id="295" r:id="rId33"/>
    <p:sldId id="296" r:id="rId34"/>
    <p:sldId id="297" r:id="rId35"/>
    <p:sldId id="298" r:id="rId36"/>
    <p:sldId id="260" r:id="rId37"/>
    <p:sldId id="261" r:id="rId38"/>
    <p:sldId id="262" r:id="rId39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1DFE-6445-1AA6-99D6-4D8CBF35B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C60EB-8F67-BB83-20C2-9446A07C3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929D9-5689-7154-C2BB-A9AA3F842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287B-5672-4407-9E13-4818F105D42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3F46B-6A17-6787-7B69-49724EB32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29E04-E6E1-02B0-2A06-3ACAA537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CCB0-6AD1-4322-8638-75C7EBA39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50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B6B3A-6881-774E-AC7E-5EFA50EFB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FABC8-C9BA-549B-F160-C32F8621C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E82FD-6813-9297-0F8F-C97C7D4E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287B-5672-4407-9E13-4818F105D42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CD23F-F835-2318-3E7F-A7CBC0F25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82194-A914-92DD-B182-393980B7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CCB0-6AD1-4322-8638-75C7EBA39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3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EE17-C7C9-298F-E559-EF29DB77D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25F02-2E39-1059-F65B-D9FF9938C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43CEF-6451-A69E-757C-C3CA3465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287B-5672-4407-9E13-4818F105D42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21620-FB7A-F996-0CAB-6B434FD7F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9138F-E9D8-1328-95F3-5D884167E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CCB0-6AD1-4322-8638-75C7EBA39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02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A32F-7E89-A5EB-3348-C66FFD07B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51B4B-DE39-169A-5823-D5A07D8E3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8BDCF-6339-B2E1-FF36-DAE899511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BD523-6465-BBC1-1FB6-880CBB8C9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287B-5672-4407-9E13-4818F105D42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153DA-69C1-5A76-DE65-8A318AB28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6EA1E-6AF9-8CCB-76C4-070AC3392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CCB0-6AD1-4322-8638-75C7EBA39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97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E607B-3779-CC6A-AE6C-3B03C933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DF199-50EB-414A-D49F-D5B74D582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E2F79-7D1A-8F36-0E90-460B27F02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94D5DB-2B6C-B477-D7C6-BC5AF9E4C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157E8-5F91-EFA9-8E17-20070015D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4AEC75-0563-36DD-D3C1-B8E253EA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287B-5672-4407-9E13-4818F105D42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52E7A0-3AAF-FC1C-9DE8-2FEB90BE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2E0621-AF31-DEAE-8BB1-A1FFA9F7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CCB0-6AD1-4322-8638-75C7EBA39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7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0050-2230-EDBB-B52D-05D5D7618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7FAA1-B767-131E-010C-FB6AD090F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287B-5672-4407-9E13-4818F105D42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E3C766-EDC3-CB3A-3297-E38775C0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1D034-01FC-E477-C157-D356EBD5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CCB0-6AD1-4322-8638-75C7EBA39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110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C14021-A77C-C8E1-23B3-67022D14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287B-5672-4407-9E13-4818F105D42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F80B4-1CCD-0B09-2727-873B3552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C2D28-4DE3-9296-C805-29ACA9219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CCB0-6AD1-4322-8638-75C7EBA39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422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DE613-7383-046E-3A33-5063F44CC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42A96-40F9-CD7D-34FB-9AF09AD8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5DA39-93E3-D91E-1632-DDFA1083B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DDC34-6C9B-02BB-86F2-E4B3FFD73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287B-5672-4407-9E13-4818F105D42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5785D-FC8D-D72B-0F21-E6C6096D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567A0-955C-29F0-ACBE-93889937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CCB0-6AD1-4322-8638-75C7EBA39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761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6506C-1CF6-5615-C123-BE2495846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62D9C-F1C0-3D11-2620-A4F8FF4D75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04841-A7E8-921D-DF38-BEF99984D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1F6E1-4924-1E41-3B36-01B8D2E3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287B-5672-4407-9E13-4818F105D42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F7AF6-70F6-7416-4E55-B013F8A00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26D5D-75D4-5CA5-269C-4915E614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CCB0-6AD1-4322-8638-75C7EBA39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700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90C8-77F3-1877-3BFA-8A75F83D5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2570A-1046-42AA-CBC8-1EC39FA45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7A4A5-0590-EE8C-122D-28D5DA615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287B-5672-4407-9E13-4818F105D42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034BA-3DD9-02E5-44ED-C6487D85F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945AA-ED6D-D391-1E36-E82A1D05D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CCB0-6AD1-4322-8638-75C7EBA39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909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A5F2C0-0B9C-FAA2-7148-4A049E518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EFC27-61CF-818D-8954-F30FBED1C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656E5-A810-9C1B-3842-4AC28F0B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3287B-5672-4407-9E13-4818F105D42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BCA1A-FA15-6E58-5CB2-934FFEF5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8F61D-FD85-2413-D802-452AD2376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CCB0-6AD1-4322-8638-75C7EBA39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82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FCD09-7E76-0A82-A29F-C795ECC0E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0996A-A307-E507-84E2-9908FDB0B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D3ABA-52EF-9211-B446-AD59D6B64D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3287B-5672-4407-9E13-4818F105D42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B018A-3D4B-54A4-250E-4A5EB631F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3178E-DB1B-450E-663C-D4397B305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ECCB0-6AD1-4322-8638-75C7EBA39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0184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8CDD-3585-581A-F2D1-E7EBFB095D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SOLID (Principles)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03C48-1B72-4396-2D6B-79EC1A8C4D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Abhi</a:t>
            </a:r>
          </a:p>
        </p:txBody>
      </p:sp>
    </p:spTree>
    <p:extLst>
      <p:ext uri="{BB962C8B-B14F-4D97-AF65-F5344CB8AC3E}">
        <p14:creationId xmlns:p14="http://schemas.microsoft.com/office/powerpoint/2010/main" val="2200784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OLID">
            <a:extLst>
              <a:ext uri="{FF2B5EF4-FFF2-40B4-BE49-F238E27FC236}">
                <a16:creationId xmlns:a16="http://schemas.microsoft.com/office/drawing/2014/main" id="{55B3BA23-F4E2-B89A-CFBF-EDF5229292C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5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8CDD-3585-581A-F2D1-E7EBFB095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733101"/>
          </a:xfrm>
        </p:spPr>
        <p:txBody>
          <a:bodyPr>
            <a:normAutofit/>
          </a:bodyPr>
          <a:lstStyle/>
          <a:p>
            <a:br>
              <a:rPr lang="en-US" sz="4000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1901952" y="795528"/>
            <a:ext cx="86544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PRINCIPLES </a:t>
            </a:r>
          </a:p>
          <a:p>
            <a:r>
              <a:rPr lang="en-US" dirty="0"/>
              <a:t>MEANING -: IS IT A RULE , NOOOO ITS NOT BUT IT’S A GUIDLINE TO FOLLOW , </a:t>
            </a:r>
          </a:p>
          <a:p>
            <a:r>
              <a:rPr lang="en-US" dirty="0"/>
              <a:t>FOR EXAMPLE IF AM LIVIN GIN HOSTEL , I MUST FOLLOW RULE TO SLEEP AT 10 PM </a:t>
            </a:r>
          </a:p>
          <a:p>
            <a:r>
              <a:rPr lang="en-US" dirty="0"/>
              <a:t>WHERE IF I AM LIVING IN HOME I MUST SLEEP SO THAT I CAN WAKE UP IN MORNING </a:t>
            </a:r>
          </a:p>
          <a:p>
            <a:r>
              <a:rPr lang="en-US" dirty="0"/>
              <a:t>SO RULES ARE IN HOSTEL BUT PRINCIPLE IS TO WAKE UP IN MORNING EARLY 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96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8CDD-3585-581A-F2D1-E7EBFB095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2" y="557784"/>
            <a:ext cx="10469880" cy="6400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2200" dirty="0"/>
              <a:t>											</a:t>
            </a: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														SOLID</a:t>
            </a:r>
            <a:br>
              <a:rPr lang="en-US" sz="2200" dirty="0"/>
            </a:br>
            <a:r>
              <a:rPr lang="en-US" sz="2400" b="1" dirty="0">
                <a:latin typeface="Arial Narrow" panose="020B0606020202030204" pitchFamily="34" charset="0"/>
              </a:rPr>
              <a:t>S — Single Responsibility Principle (SRP)</a:t>
            </a:r>
            <a:br>
              <a:rPr lang="en-US" sz="2400" b="1" dirty="0">
                <a:latin typeface="Arial Narrow" panose="020B0606020202030204" pitchFamily="34" charset="0"/>
              </a:rPr>
            </a:br>
            <a:r>
              <a:rPr lang="en-US" sz="2400" b="1" dirty="0">
                <a:latin typeface="Arial Narrow" panose="020B0606020202030204" pitchFamily="34" charset="0"/>
              </a:rPr>
              <a:t>do not put feet into two boats</a:t>
            </a:r>
            <a:br>
              <a:rPr lang="en-US" sz="2400" dirty="0">
                <a:latin typeface="Arial Narrow" panose="020B0606020202030204" pitchFamily="34" charset="0"/>
              </a:rPr>
            </a:br>
            <a:br>
              <a:rPr lang="en-US" sz="2400" b="1" dirty="0">
                <a:latin typeface="Arial Narrow" panose="020B0606020202030204" pitchFamily="34" charset="0"/>
              </a:rPr>
            </a:br>
            <a:r>
              <a:rPr lang="en-US" sz="2400" b="1" dirty="0">
                <a:latin typeface="Arial Narrow" panose="020B0606020202030204" pitchFamily="34" charset="0"/>
              </a:rPr>
              <a:t>O — Open/Closed Principle (OCP)</a:t>
            </a:r>
            <a:br>
              <a:rPr lang="en-US" sz="2400" b="1" dirty="0">
                <a:latin typeface="Arial Narrow" panose="020B0606020202030204" pitchFamily="34" charset="0"/>
              </a:rPr>
            </a:br>
            <a:r>
              <a:rPr lang="en-US" sz="2000" b="1" dirty="0">
                <a:latin typeface="Arial Narrow" panose="020B0606020202030204" pitchFamily="34" charset="0"/>
              </a:rPr>
              <a:t>we should always learn new things but never forget your values and </a:t>
            </a:r>
            <a:r>
              <a:rPr lang="en-US" sz="2000" b="1" dirty="0" err="1">
                <a:latin typeface="Arial Narrow" panose="020B0606020202030204" pitchFamily="34" charset="0"/>
              </a:rPr>
              <a:t>cutltures</a:t>
            </a:r>
            <a:br>
              <a:rPr lang="en-US" sz="2400" b="1" dirty="0">
                <a:latin typeface="Arial Narrow" panose="020B0606020202030204" pitchFamily="34" charset="0"/>
              </a:rPr>
            </a:br>
            <a:br>
              <a:rPr lang="en-US" sz="2400" b="1" dirty="0">
                <a:latin typeface="Arial Narrow" panose="020B0606020202030204" pitchFamily="34" charset="0"/>
              </a:rPr>
            </a:br>
            <a:r>
              <a:rPr lang="en-US" sz="2400" b="1" dirty="0">
                <a:latin typeface="Arial Narrow" panose="020B0606020202030204" pitchFamily="34" charset="0"/>
              </a:rPr>
              <a:t>L — </a:t>
            </a:r>
            <a:r>
              <a:rPr lang="en-US" sz="2400" b="1" dirty="0" err="1">
                <a:latin typeface="Arial Narrow" panose="020B0606020202030204" pitchFamily="34" charset="0"/>
              </a:rPr>
              <a:t>Liskov</a:t>
            </a:r>
            <a:r>
              <a:rPr lang="en-US" sz="2400" b="1" dirty="0">
                <a:latin typeface="Arial Narrow" panose="020B0606020202030204" pitchFamily="34" charset="0"/>
              </a:rPr>
              <a:t> Substitution Principle (LSP)</a:t>
            </a:r>
            <a:br>
              <a:rPr lang="en-US" sz="2400" b="1" dirty="0">
                <a:latin typeface="Arial Narrow" panose="020B0606020202030204" pitchFamily="34" charset="0"/>
              </a:rPr>
            </a:br>
            <a:r>
              <a:rPr lang="en-US" sz="1800" b="1" dirty="0">
                <a:latin typeface="Arial Narrow" panose="020B0606020202030204" pitchFamily="34" charset="0"/>
              </a:rPr>
              <a:t>you should be easily able to fit into something </a:t>
            </a:r>
            <a:br>
              <a:rPr lang="en-US" sz="2400" b="1" dirty="0">
                <a:latin typeface="Arial Narrow" panose="020B0606020202030204" pitchFamily="34" charset="0"/>
              </a:rPr>
            </a:br>
            <a:br>
              <a:rPr lang="en-US" sz="2400" dirty="0">
                <a:latin typeface="Arial Narrow" panose="020B0606020202030204" pitchFamily="34" charset="0"/>
              </a:rPr>
            </a:br>
            <a:r>
              <a:rPr lang="en-US" sz="2400" b="1" dirty="0">
                <a:latin typeface="Arial Narrow" panose="020B0606020202030204" pitchFamily="34" charset="0"/>
              </a:rPr>
              <a:t>I — Interface Segregation Principle (ISP)</a:t>
            </a:r>
            <a:br>
              <a:rPr lang="en-US" sz="2400" b="1" dirty="0">
                <a:latin typeface="Arial Narrow" panose="020B0606020202030204" pitchFamily="34" charset="0"/>
              </a:rPr>
            </a:br>
            <a:br>
              <a:rPr lang="en-US" sz="2400" dirty="0">
                <a:latin typeface="Arial Narrow" panose="020B0606020202030204" pitchFamily="34" charset="0"/>
              </a:rPr>
            </a:br>
            <a:r>
              <a:rPr lang="en-US" sz="2400" b="1" dirty="0">
                <a:latin typeface="Arial Narrow" panose="020B0606020202030204" pitchFamily="34" charset="0"/>
              </a:rPr>
              <a:t>D — Dependency Inversion Principle (DIP)</a:t>
            </a:r>
            <a:br>
              <a:rPr lang="en-US" sz="2400" b="1" dirty="0">
                <a:latin typeface="Arial Narrow" panose="020B0606020202030204" pitchFamily="34" charset="0"/>
              </a:rPr>
            </a:br>
            <a:r>
              <a:rPr lang="en-US" sz="2200" dirty="0"/>
              <a:t>																</a:t>
            </a:r>
            <a:br>
              <a:rPr lang="en-US" sz="2200" dirty="0"/>
            </a:br>
            <a:br>
              <a:rPr lang="en-US" sz="1200" dirty="0"/>
            </a:br>
            <a:r>
              <a:rPr lang="en-US" sz="2200" dirty="0"/>
              <a:t>						</a:t>
            </a:r>
            <a:br>
              <a:rPr lang="en-US" sz="1100" dirty="0"/>
            </a:br>
            <a:br>
              <a:rPr lang="en-US" sz="40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762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8CDD-3585-581A-F2D1-E7EBFB095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733101"/>
          </a:xfrm>
        </p:spPr>
        <p:txBody>
          <a:bodyPr>
            <a:normAutofit/>
          </a:bodyPr>
          <a:lstStyle/>
          <a:p>
            <a:br>
              <a:rPr lang="en-US" sz="4000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1901952" y="795528"/>
            <a:ext cx="959243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 SOLID IS A GUIDLINE </a:t>
            </a:r>
          </a:p>
          <a:p>
            <a:r>
              <a:rPr lang="en-US" dirty="0"/>
              <a:t>OUR AIM IS TO FOLLOW THEM AS MUCH AS POSSIBLE </a:t>
            </a:r>
          </a:p>
          <a:p>
            <a:endParaRPr lang="en-US" dirty="0"/>
          </a:p>
          <a:p>
            <a:r>
              <a:rPr lang="en-US" dirty="0"/>
              <a:t>THERE WILL BE SENARIOS WHERE MUST CANNOT USE PRINCIPLES BUT IT DOESN’T MEAN WE</a:t>
            </a:r>
          </a:p>
          <a:p>
            <a:r>
              <a:rPr lang="en-US" dirty="0"/>
              <a:t>SHOULDN’T USE PRINCIPLES ,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5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58B60F-80CA-BEE0-FD5B-52B1F99BC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90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8CDD-3585-581A-F2D1-E7EBFB095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733101"/>
          </a:xfrm>
        </p:spPr>
        <p:txBody>
          <a:bodyPr>
            <a:normAutofit/>
          </a:bodyPr>
          <a:lstStyle/>
          <a:p>
            <a:br>
              <a:rPr lang="en-US" sz="4000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1901952" y="795528"/>
            <a:ext cx="790613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b="1" dirty="0"/>
              <a:t>SRP – Example with Birds</a:t>
            </a:r>
          </a:p>
          <a:p>
            <a:r>
              <a:rPr lang="en-US" dirty="0"/>
              <a:t>Imagine you are building a </a:t>
            </a:r>
            <a:r>
              <a:rPr lang="en-US" b="1" dirty="0"/>
              <a:t>software system about Birds</a:t>
            </a:r>
            <a:r>
              <a:rPr lang="en-US" dirty="0"/>
              <a:t>.</a:t>
            </a:r>
          </a:p>
          <a:p>
            <a:r>
              <a:rPr lang="en-US" dirty="0"/>
              <a:t>When you build software, you must check edge cases.</a:t>
            </a:r>
            <a:br>
              <a:rPr lang="en-US" dirty="0"/>
            </a:br>
            <a:r>
              <a:rPr lang="en-US" dirty="0"/>
              <a:t>Because once your project grows, it will be hard to change and will waste time </a:t>
            </a:r>
          </a:p>
          <a:p>
            <a:r>
              <a:rPr lang="en-US" dirty="0"/>
              <a:t>if you rewrite things again and again.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5042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A981AC-8192-0465-29E0-53098F5DBD9E}"/>
              </a:ext>
            </a:extLst>
          </p:cNvPr>
          <p:cNvSpPr txBox="1"/>
          <p:nvPr/>
        </p:nvSpPr>
        <p:spPr>
          <a:xfrm>
            <a:off x="2176272" y="1472184"/>
            <a:ext cx="67431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Understanding Birds</a:t>
            </a:r>
          </a:p>
          <a:p>
            <a:r>
              <a:rPr lang="en-US" dirty="0"/>
              <a:t>When we talk about </a:t>
            </a:r>
            <a:r>
              <a:rPr lang="en-US" i="1" dirty="0"/>
              <a:t>Birds</a:t>
            </a:r>
            <a:r>
              <a:rPr lang="en-US" dirty="0"/>
              <a:t>, what comes to mind first?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can be a </a:t>
            </a:r>
            <a:r>
              <a:rPr lang="en-US" b="1" dirty="0"/>
              <a:t>Sparrow</a:t>
            </a:r>
            <a:r>
              <a:rPr lang="en-US" dirty="0"/>
              <a:t>, </a:t>
            </a:r>
            <a:r>
              <a:rPr lang="en-US" b="1" dirty="0"/>
              <a:t>Crow</a:t>
            </a:r>
            <a:r>
              <a:rPr lang="en-US" dirty="0"/>
              <a:t>, </a:t>
            </a:r>
            <a:r>
              <a:rPr lang="en-US" b="1" dirty="0"/>
              <a:t>Parrot</a:t>
            </a:r>
            <a:r>
              <a:rPr lang="en-US" dirty="0"/>
              <a:t>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birds have </a:t>
            </a:r>
            <a:r>
              <a:rPr lang="en-US" b="1" dirty="0"/>
              <a:t>different roles and behaviors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So while building software, you must handle the </a:t>
            </a:r>
            <a:r>
              <a:rPr lang="en-US" b="1" dirty="0"/>
              <a:t>diversity of birds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145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8CDD-3585-581A-F2D1-E7EBFB095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733101"/>
          </a:xfrm>
        </p:spPr>
        <p:txBody>
          <a:bodyPr>
            <a:normAutofit/>
          </a:bodyPr>
          <a:lstStyle/>
          <a:p>
            <a:br>
              <a:rPr lang="en-US" sz="4000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6A6DCB4-0421-A35D-C36E-577684EF3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248" y="597693"/>
            <a:ext cx="8985504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Storing Birds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we can create objects of a Bird class, then we can store them in a database.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what should a Bird class contain?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Attributes (Fields)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basic Bird must have: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type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numberOfWings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color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Weight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 Unicode MS"/>
              </a:rPr>
              <a:t>______________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Bird may have: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fly()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makeSound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dance()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730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8CDD-3585-581A-F2D1-E7EBFB095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733101"/>
          </a:xfrm>
        </p:spPr>
        <p:txBody>
          <a:bodyPr>
            <a:normAutofit/>
          </a:bodyPr>
          <a:lstStyle/>
          <a:p>
            <a:br>
              <a:rPr lang="en-US" sz="4000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1EEB77-42AF-9A27-B8C4-7E2814C77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872" y="1096446"/>
            <a:ext cx="1056132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Bird B1 = new Bird(); B1.name = "Sparrow";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B1.type = "Small";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B1.makeSound(); // chi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Bird B2 = new Bird();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B2.name = "Crow";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B2.type = "Medium";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B2.makeSound(); // ka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664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8CDD-3585-581A-F2D1-E7EBFB095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4905"/>
            <a:ext cx="9144000" cy="6208776"/>
          </a:xfrm>
        </p:spPr>
        <p:txBody>
          <a:bodyPr>
            <a:normAutofit/>
          </a:bodyPr>
          <a:lstStyle/>
          <a:p>
            <a:br>
              <a:rPr lang="en-US" sz="4000" dirty="0"/>
            </a:br>
            <a:r>
              <a:rPr lang="en-US" sz="2800" dirty="0"/>
              <a:t>if (type == "sparrow") …</a:t>
            </a:r>
            <a:br>
              <a:rPr lang="en-US" sz="2800" dirty="0"/>
            </a:br>
            <a:r>
              <a:rPr lang="en-US" sz="2800" dirty="0"/>
              <a:t>else if (type == "crow") …</a:t>
            </a:r>
            <a:br>
              <a:rPr lang="en-US" sz="2800" dirty="0"/>
            </a:br>
            <a:r>
              <a:rPr lang="en-US" sz="4400" dirty="0"/>
              <a:t>This becomes a </a:t>
            </a:r>
            <a:r>
              <a:rPr lang="en-US" sz="4400" b="1" dirty="0"/>
              <a:t>big SRP violation</a:t>
            </a:r>
            <a:r>
              <a:rPr lang="en-US" sz="4400" dirty="0"/>
              <a:t>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24153FA-7578-175D-6849-BA31AC6E6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760" y="669966"/>
            <a:ext cx="728776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the Problem Begins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I call: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B1.makeSound();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B2.makeSound();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both supposed to make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sound?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bird has a different sound.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if one method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makeSound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tries to give different outputs for different birds using conditions like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098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D78D30-C398-42BA-8D24-2661ABE75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096" y="196233"/>
            <a:ext cx="4919472" cy="606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any object, its method should only do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makeSound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should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 the sound of that specific bird, not decide which bird it 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leads to better: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understandability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separation of responsibilities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931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1636776" y="1527048"/>
            <a:ext cx="63185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Understanding the Problem (If–Else Issue)</a:t>
            </a:r>
          </a:p>
          <a:p>
            <a:r>
              <a:rPr lang="en-US" dirty="0"/>
              <a:t>Let’s say we have a method like this:</a:t>
            </a:r>
          </a:p>
          <a:p>
            <a:endParaRPr lang="en-US" dirty="0"/>
          </a:p>
          <a:p>
            <a:r>
              <a:rPr lang="en-US" dirty="0" err="1"/>
              <a:t>makeSound</a:t>
            </a:r>
            <a:r>
              <a:rPr lang="en-US" dirty="0"/>
              <a:t>() {</a:t>
            </a:r>
          </a:p>
          <a:p>
            <a:r>
              <a:rPr lang="en-US" dirty="0"/>
              <a:t>    if (type == "crow") {</a:t>
            </a:r>
          </a:p>
          <a:p>
            <a:r>
              <a:rPr lang="en-US" dirty="0"/>
              <a:t>        sound("caw caw");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else if (type == "sparrow") {</a:t>
            </a:r>
          </a:p>
          <a:p>
            <a:r>
              <a:rPr lang="en-US" dirty="0"/>
              <a:t>        sound("chi chi");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745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1636776" y="1527048"/>
            <a:ext cx="63185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Problems with this approach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Hard to understand</a:t>
            </a:r>
            <a:r>
              <a:rPr lang="en-US" dirty="0"/>
              <a:t> — Too many if-else conditions make the code confusing.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Difficult to test</a:t>
            </a:r>
            <a:r>
              <a:rPr lang="en-US" dirty="0"/>
              <a:t> — Testing becomes harder as conditions increase.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Code duplication</a:t>
            </a:r>
            <a:r>
              <a:rPr lang="en-US" dirty="0"/>
              <a:t> — Repeated logic appears for every new bird type.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Less reusable code</a:t>
            </a:r>
            <a:r>
              <a:rPr lang="en-US" dirty="0"/>
              <a:t> — The method is tightly coupled to specific bird types.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Violation of SRP (Single Responsibility Principle)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2192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1636776" y="1527048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CA2B55-653C-7E71-A3F0-331D8C722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411" y="1409732"/>
            <a:ext cx="987962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 does this code violate SRP?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method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makeSound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should  only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make a sound.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 in your example, the method 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making sound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deciding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bird is calling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mixing behavior logic with type checking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means the method is trying to do the same job that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makesound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method problem had — deciding behavior for multiple bird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is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strong violation of SRP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7185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1636776" y="1527048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5F941A7-AEE5-E4E0-9099-B83448C20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664" y="603721"/>
            <a:ext cx="924458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should the Bird class represent?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agenda of the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Bird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class is to: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 as a structure,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common behavior,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each subclass (Crow, Sparrow, Pigeon, etc.) to implement its own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Classes should be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responsible only for what belongs to them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0824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1636776" y="1527048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1062246"/>
            <a:ext cx="620877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to identify SRP violations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Methods with multiple if–else blocks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you have many conditions, it means you're trying to do: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"If this → do that"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"If that → do something else"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is a clear sign the method is doing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more than one job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1421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1636776" y="1527048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1462357"/>
            <a:ext cx="620877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In some cases if else might be needed for example if you are creating an account in  fix </a:t>
            </a:r>
            <a:r>
              <a:rPr lang="en-US" altLang="en-US" dirty="0" err="1">
                <a:latin typeface="Arial" panose="020B0604020202020204" pitchFamily="34" charset="0"/>
              </a:rPr>
              <a:t>deposite</a:t>
            </a:r>
            <a:r>
              <a:rPr lang="en-US" altLang="en-US" dirty="0">
                <a:latin typeface="Arial" panose="020B0604020202020204" pitchFamily="34" charset="0"/>
              </a:rPr>
              <a:t> then bank should ask you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If(10 year ==</a:t>
            </a:r>
            <a:r>
              <a:rPr lang="en-US" altLang="en-US" dirty="0">
                <a:latin typeface="Arial" panose="020B0604020202020204" pitchFamily="34" charset="0"/>
              </a:rPr>
              <a:t> 10% interest)}{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Else (20 year == 20 %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){</a:t>
            </a:r>
          </a:p>
        </p:txBody>
      </p:sp>
    </p:spTree>
    <p:extLst>
      <p:ext uri="{BB962C8B-B14F-4D97-AF65-F5344CB8AC3E}">
        <p14:creationId xmlns:p14="http://schemas.microsoft.com/office/powerpoint/2010/main" val="1372177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1636776" y="1527048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769864"/>
            <a:ext cx="620877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ANOTHER WAY HERE SRP VIOILATION CAN HAPPEN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MONSTER METHODS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EXAMPLE IN </a:t>
            </a:r>
            <a:r>
              <a:rPr lang="en-US" altLang="en-US" dirty="0">
                <a:latin typeface="Arial" panose="020B0604020202020204" pitchFamily="34" charset="0"/>
              </a:rPr>
              <a:t>ONE METHOD YOU ADD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DB.CONNECTION (String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“;;;;;;;”)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>
                <a:latin typeface="Arial" panose="020B0604020202020204" pitchFamily="34" charset="0"/>
              </a:rPr>
              <a:t>Db.save</a:t>
            </a:r>
            <a:r>
              <a:rPr lang="en-US" altLang="en-US" dirty="0">
                <a:latin typeface="Arial" panose="020B0604020202020204" pitchFamily="34" charset="0"/>
              </a:rPr>
              <a:t>(save database)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From </a:t>
            </a:r>
            <a:r>
              <a:rPr lang="en-US" altLang="en-US" dirty="0" err="1">
                <a:latin typeface="Arial" panose="020B0604020202020204" pitchFamily="34" charset="0"/>
              </a:rPr>
              <a:t>entiry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above example you are violating SRP , </a:t>
            </a:r>
            <a:r>
              <a:rPr lang="en-US" altLang="en-US" dirty="0">
                <a:latin typeface="Arial" panose="020B0604020202020204" pitchFamily="34" charset="0"/>
              </a:rPr>
              <a:t>it says you must have one </a:t>
            </a:r>
            <a:r>
              <a:rPr lang="en-US" altLang="en-US" dirty="0" err="1">
                <a:latin typeface="Arial" panose="020B0604020202020204" pitchFamily="34" charset="0"/>
              </a:rPr>
              <a:t>funcationality</a:t>
            </a:r>
            <a:r>
              <a:rPr lang="en-US" altLang="en-US" dirty="0">
                <a:latin typeface="Arial" panose="020B0604020202020204" pitchFamily="34" charset="0"/>
              </a:rPr>
              <a:t> in one method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884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1636776" y="1527048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1600862"/>
            <a:ext cx="620877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ANOTHER WAY HERE SRP VIOILATION CAN HAPPEN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Package 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You should put only package to its classes or services , or repo </a:t>
            </a:r>
            <a:r>
              <a:rPr lang="en-US" altLang="en-US" dirty="0" err="1">
                <a:latin typeface="Arial" panose="020B0604020202020204" pitchFamily="34" charset="0"/>
              </a:rPr>
              <a:t>etc</a:t>
            </a:r>
            <a:r>
              <a:rPr lang="en-US" altLang="en-US" dirty="0">
                <a:latin typeface="Arial" panose="020B0604020202020204" pitchFamily="34" charset="0"/>
              </a:rPr>
              <a:t> as per its functionality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333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0591E4-4D5E-2B4D-FFB1-32FDCF352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33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1636776" y="1527048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1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CLOSE PRINCIPLE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Open for Extension, Closed for Modification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70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484632" y="1470063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2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92DF84-C5D6-39A9-5BB6-8448B1E49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440" y="1721493"/>
            <a:ext cx="7434072" cy="2084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OCP?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Open/Closed Principle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means your code should be: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OPEN for extension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(easy to add new features)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CLOSED for modification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(never change existing working code)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656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484632" y="1470063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2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92DF84-C5D6-39A9-5BB6-8448B1E49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440" y="1351648"/>
            <a:ext cx="7434072" cy="282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Simple Terms: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Modification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= Changing what already exists in your code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Extension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= Adding new things without touching existing code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Allowed: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Adding new classes, new methods, new code</a:t>
            </a:r>
            <a:b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8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❌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Not Allowed: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Modifying existing methods, changing working logic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418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484632" y="1470063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2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92DF84-C5D6-39A9-5BB6-8448B1E49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440" y="1594278"/>
            <a:ext cx="7434072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dirty="0"/>
              <a:t>Why OCP?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bugs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maintainability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Makes code scalable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Makes future changes safer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Allows adding new features without fear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909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484632" y="1470063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2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92DF84-C5D6-39A9-5BB6-8448B1E49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440" y="1594280"/>
            <a:ext cx="7434072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dirty="0"/>
              <a:t>EASY TESTING </a:t>
            </a:r>
          </a:p>
          <a:p>
            <a:r>
              <a:rPr lang="en-US" b="1" dirty="0"/>
              <a:t>Lets say you already build the code and run all test cases , and it works fine , now client ask you to add a new bird in it , don’t you think </a:t>
            </a:r>
          </a:p>
          <a:p>
            <a:r>
              <a:rPr lang="en-US" b="1" dirty="0"/>
              <a:t>Now you need to run all tests again and </a:t>
            </a:r>
            <a:r>
              <a:rPr lang="en-US" b="1" dirty="0" err="1"/>
              <a:t>chech</a:t>
            </a:r>
            <a:r>
              <a:rPr lang="en-US" b="1" dirty="0"/>
              <a:t> if code works fine , and do you </a:t>
            </a:r>
            <a:r>
              <a:rPr lang="en-US" b="1" dirty="0" err="1"/>
              <a:t>gurrenty</a:t>
            </a:r>
            <a:r>
              <a:rPr lang="en-US" b="1" dirty="0"/>
              <a:t> that your code will work fine again and smooth?</a:t>
            </a:r>
          </a:p>
          <a:p>
            <a:r>
              <a:rPr lang="en-US" b="1" dirty="0"/>
              <a:t>Of course NO….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164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484632" y="1470063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2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92DF84-C5D6-39A9-5BB6-8448B1E49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440" y="771072"/>
            <a:ext cx="7434072" cy="517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Problem: OCP Violation Example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Initial Bird Class (Bad Design)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 Bird {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IN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 name;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String type;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String </a:t>
            </a:r>
            <a:r>
              <a:rPr lang="en-IN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r>
              <a:rPr lang="en-IN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double weight;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void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makeSound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if(name == "crow") {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</a:t>
            </a:r>
            <a:r>
              <a:rPr lang="en-IN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Sout</a:t>
            </a: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("ka </a:t>
            </a:r>
            <a:r>
              <a:rPr lang="en-IN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ka</a:t>
            </a: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ka");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} else if(name == "sparrow") {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</a:t>
            </a:r>
            <a:r>
              <a:rPr lang="en-IN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Sout</a:t>
            </a: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("chi </a:t>
            </a:r>
            <a:r>
              <a:rPr lang="en-IN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chi</a:t>
            </a: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chi");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} else if(name == "pigeon") {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</a:t>
            </a:r>
            <a:r>
              <a:rPr lang="en-IN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Sout</a:t>
            </a: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("gur </a:t>
            </a:r>
            <a:r>
              <a:rPr lang="en-IN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gur</a:t>
            </a: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gur");</a:t>
            </a:r>
          </a:p>
        </p:txBody>
      </p:sp>
    </p:spTree>
    <p:extLst>
      <p:ext uri="{BB962C8B-B14F-4D97-AF65-F5344CB8AC3E}">
        <p14:creationId xmlns:p14="http://schemas.microsoft.com/office/powerpoint/2010/main" val="4249030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484632" y="1470063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2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92DF84-C5D6-39A9-5BB6-8448B1E49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440" y="1594281"/>
            <a:ext cx="7434072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dirty="0"/>
              <a:t>Problem</a:t>
            </a:r>
          </a:p>
          <a:p>
            <a:r>
              <a:rPr lang="en-US" dirty="0"/>
              <a:t>Every time a new bird comes: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must modify existing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chances of bugs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Code becomes lengthy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 to maintain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 to preform test cases </a:t>
            </a:r>
          </a:p>
        </p:txBody>
      </p:sp>
    </p:spTree>
    <p:extLst>
      <p:ext uri="{BB962C8B-B14F-4D97-AF65-F5344CB8AC3E}">
        <p14:creationId xmlns:p14="http://schemas.microsoft.com/office/powerpoint/2010/main" val="2376263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411480" y="1515783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2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92DF84-C5D6-39A9-5BB6-8448B1E49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440" y="2004143"/>
            <a:ext cx="7434072" cy="1519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Crisis: Client Wants Peacock!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Now the client says: 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"We need to support a new bird - PEACOCK!"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34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411480" y="1515783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2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92DF84-C5D6-39A9-5BB6-8448B1E49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32" y="563600"/>
            <a:ext cx="7434072" cy="573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happens with our current code?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void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makeSound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if(name == "crow") {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Sout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("ka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ka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ka");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} else if(name == "sparrow") {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Sout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("chi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chi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chi");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} else if(name == "pigeon") {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Sout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("gur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gur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gur");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} else if(name == "peacock") {    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// </a:t>
            </a:r>
            <a:r>
              <a:rPr lang="en-IN" sz="1800" i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❌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MODIFICATION!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Sout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("meow meow");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endParaRPr lang="en-US" dirty="0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AD5A5BA-B796-5E76-19DD-D4321E799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096" y="882742"/>
            <a:ext cx="6644640" cy="2226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This is Bad: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 MODIFIED existing code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instead of extending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Risk of breaking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existing functionality for Crow, Sparrow, Pigeon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Violates OCP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- code is NOT closed for modification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pattern repeats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for every new bird type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1716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411480" y="1515783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2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38F79BA6-C6DB-6F22-CEED-83E196A2C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904" y="2043365"/>
            <a:ext cx="6644640" cy="1540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Solution: OCP Compliant Design so what do you think will be the solution of this 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Lets jump to Version 2: Proper Architecture which supports OCP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121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406908" y="1542338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2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58ECE6-29A9-F3F0-9C67-89A921CC7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093659"/>
              </p:ext>
            </p:extLst>
          </p:nvPr>
        </p:nvGraphicFramePr>
        <p:xfrm>
          <a:off x="97282" y="174239"/>
          <a:ext cx="3395726" cy="2230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5726">
                  <a:extLst>
                    <a:ext uri="{9D8B030D-6E8A-4147-A177-3AD203B41FA5}">
                      <a16:colId xmlns:a16="http://schemas.microsoft.com/office/drawing/2014/main" val="2632692011"/>
                    </a:ext>
                  </a:extLst>
                </a:gridCol>
              </a:tblGrid>
              <a:tr h="22306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// Abstract base class with common attributes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abstract class Bird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String name;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String type;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String </a:t>
                      </a:r>
                      <a:r>
                        <a:rPr lang="en-IN" sz="11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color</a:t>
                      </a: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double weight;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51862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3E1F8B-1B05-CF73-E28A-BCA6670FB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008362"/>
              </p:ext>
            </p:extLst>
          </p:nvPr>
        </p:nvGraphicFramePr>
        <p:xfrm>
          <a:off x="3639312" y="148965"/>
          <a:ext cx="3236976" cy="108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6976">
                  <a:extLst>
                    <a:ext uri="{9D8B030D-6E8A-4147-A177-3AD203B41FA5}">
                      <a16:colId xmlns:a16="http://schemas.microsoft.com/office/drawing/2014/main" val="1302238873"/>
                    </a:ext>
                  </a:extLst>
                </a:gridCol>
              </a:tblGrid>
              <a:tr h="1082040">
                <a:tc>
                  <a:txBody>
                    <a:bodyPr/>
                    <a:lstStyle/>
                    <a:p>
                      <a:r>
                        <a:rPr lang="en-IN" sz="1100" b="1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Segregated interfaces for different </a:t>
                      </a:r>
                      <a:r>
                        <a:rPr lang="en-IN" sz="1100" b="1" i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behaviors</a:t>
                      </a:r>
                      <a:endParaRPr lang="en-IN" sz="11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IDance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 </a:t>
                      </a:r>
                    </a:p>
                    <a:p>
                      <a:r>
                        <a:rPr lang="en-IN" sz="105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dance(); 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79564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C9DD34-0423-C29F-45CF-8709C959F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809339"/>
              </p:ext>
            </p:extLst>
          </p:nvPr>
        </p:nvGraphicFramePr>
        <p:xfrm>
          <a:off x="8814816" y="172946"/>
          <a:ext cx="2770632" cy="80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632">
                  <a:extLst>
                    <a:ext uri="{9D8B030D-6E8A-4147-A177-3AD203B41FA5}">
                      <a16:colId xmlns:a16="http://schemas.microsoft.com/office/drawing/2014/main" val="1302238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IMakeSound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 </a:t>
                      </a:r>
                    </a:p>
                    <a:p>
                      <a:r>
                        <a:rPr lang="en-IN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IN" sz="11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makeSound</a:t>
                      </a:r>
                      <a:r>
                        <a:rPr lang="en-IN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 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79564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0DF4E31-BF6B-8F3D-9ED2-C6564E1E6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362290"/>
              </p:ext>
            </p:extLst>
          </p:nvPr>
        </p:nvGraphicFramePr>
        <p:xfrm>
          <a:off x="7022592" y="168264"/>
          <a:ext cx="1645920" cy="108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302238873"/>
                    </a:ext>
                  </a:extLst>
                </a:gridCol>
              </a:tblGrid>
              <a:tr h="866546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IFly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 </a:t>
                      </a:r>
                    </a:p>
                    <a:p>
                      <a:r>
                        <a:rPr lang="en-IN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fly(); 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79564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FDC6A09-046D-6A4E-61B0-D3EBF9BE7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186550"/>
              </p:ext>
            </p:extLst>
          </p:nvPr>
        </p:nvGraphicFramePr>
        <p:xfrm>
          <a:off x="97282" y="2500002"/>
          <a:ext cx="449300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3006">
                  <a:extLst>
                    <a:ext uri="{9D8B030D-6E8A-4147-A177-3AD203B41FA5}">
                      <a16:colId xmlns:a16="http://schemas.microsoft.com/office/drawing/2014/main" val="3455452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Crow extends Bird implements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IFly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IMakeSound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IDance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94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public void fly() { </a:t>
                      </a:r>
                    </a:p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("Crow flying high"); }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public void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makeSound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{ </a:t>
                      </a:r>
                    </a:p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("Ka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Ka!"); }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public void dance() {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("Crow hopping dance"); }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38010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287DF1A-58BB-A1D7-C477-C800201C8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324682"/>
              </p:ext>
            </p:extLst>
          </p:nvPr>
        </p:nvGraphicFramePr>
        <p:xfrm>
          <a:off x="4713732" y="1554282"/>
          <a:ext cx="449300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3006">
                  <a:extLst>
                    <a:ext uri="{9D8B030D-6E8A-4147-A177-3AD203B41FA5}">
                      <a16:colId xmlns:a16="http://schemas.microsoft.com/office/drawing/2014/main" val="3455452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Sparrow extends Bird implements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IFly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IMakeSound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IDance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94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public void fly() {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("Sparrow darting"); }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public void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makeSound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{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("Chi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Chi!"); }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public void dance() { </a:t>
                      </a:r>
                    </a:p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("Sparrow twirling"); }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38010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A50729B-F327-165A-44DC-2D3EB348B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692102"/>
              </p:ext>
            </p:extLst>
          </p:nvPr>
        </p:nvGraphicFramePr>
        <p:xfrm>
          <a:off x="7403467" y="4044978"/>
          <a:ext cx="4493006" cy="2762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3006">
                  <a:extLst>
                    <a:ext uri="{9D8B030D-6E8A-4147-A177-3AD203B41FA5}">
                      <a16:colId xmlns:a16="http://schemas.microsoft.com/office/drawing/2014/main" val="3455452438"/>
                    </a:ext>
                  </a:extLst>
                </a:gridCol>
              </a:tblGrid>
              <a:tr h="594196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Peacock extends Bird implements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IFly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IMakeSound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IDance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940653"/>
                  </a:ext>
                </a:extLst>
              </a:tr>
              <a:tr h="2122127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public void fly() {</a:t>
                      </a:r>
                    </a:p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("Peacock short flight"); }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public void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makeSound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{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("Meow Meow!"); }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public void dance() {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("Peacock feather display!");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38010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DA38211-5781-75A4-3D39-5AE69E3CF85B}"/>
              </a:ext>
            </a:extLst>
          </p:cNvPr>
          <p:cNvSpPr txBox="1"/>
          <p:nvPr/>
        </p:nvSpPr>
        <p:spPr>
          <a:xfrm>
            <a:off x="9556349" y="2527434"/>
            <a:ext cx="20526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Adding Peacock – </a:t>
            </a:r>
          </a:p>
          <a:p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OCP Way!</a:t>
            </a:r>
          </a:p>
          <a:p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IN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↓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5054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4059936" y="3108960"/>
            <a:ext cx="4608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411480" y="1515783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2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043AB-17DE-CB54-233D-54792098F425}"/>
              </a:ext>
            </a:extLst>
          </p:cNvPr>
          <p:cNvSpPr txBox="1"/>
          <p:nvPr/>
        </p:nvSpPr>
        <p:spPr>
          <a:xfrm>
            <a:off x="1920240" y="1014984"/>
            <a:ext cx="6151299" cy="4857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Benefits of OCP Approach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Safe Evolution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Existing Crow, Sparrow, Pigeon code remains 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untouched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Zero risk of breaking working functionality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Easy Maintenance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 features = New code only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need to understand complex if-else logic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Clean Architecture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Each bird is responsible for its own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behavior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giant methods with endless conditionals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Team-Friendly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IN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Multiple developers can work on different birds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6495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6318504" y="3292948"/>
            <a:ext cx="4608576" cy="2607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After OCP (Good)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Bird (Abstract)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├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──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Crow [EXTENDS Bird]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├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──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Sparrow [EXTENDS Bird]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├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──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Pigeon [EXTENDS Bird]</a:t>
            </a:r>
          </a:p>
          <a:p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└── Peacock [EXTENDS Bird] ← NEW! No changes to others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411480" y="1515783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2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043AB-17DE-CB54-233D-54792098F425}"/>
              </a:ext>
            </a:extLst>
          </p:cNvPr>
          <p:cNvSpPr txBox="1"/>
          <p:nvPr/>
        </p:nvSpPr>
        <p:spPr>
          <a:xfrm>
            <a:off x="411480" y="384949"/>
            <a:ext cx="4920899" cy="2500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 Comparison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Bird Class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├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──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makeSound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 [MODIFIED for each new bird]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├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──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fly() [MODIFIED for each new bird]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└── dance() [MODIFIED for each new bird]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66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581D9-B596-0BD1-61BA-36D2D7C994EE}"/>
              </a:ext>
            </a:extLst>
          </p:cNvPr>
          <p:cNvSpPr txBox="1"/>
          <p:nvPr/>
        </p:nvSpPr>
        <p:spPr>
          <a:xfrm>
            <a:off x="3319272" y="759956"/>
            <a:ext cx="4608576" cy="5038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Summary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OCP is NOT bad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- it's essential for building maintainable, scalable software!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Remember: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new classes for new features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Never change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working existing code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Design for extension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from the beginning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If-else/switch chains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= Red flag for OCP violation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principle ensures your codebase grows safely without becoming a fragile house of cards! </a:t>
            </a:r>
            <a:r>
              <a:rPr lang="en-IN" sz="1800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🏗️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CB9DE-D2F9-6A2B-5BED-17E5D9D5E75B}"/>
              </a:ext>
            </a:extLst>
          </p:cNvPr>
          <p:cNvSpPr txBox="1"/>
          <p:nvPr/>
        </p:nvSpPr>
        <p:spPr>
          <a:xfrm>
            <a:off x="411480" y="1515783"/>
            <a:ext cx="631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5646-F801-A171-454A-2DE9EB9F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344" y="2016362"/>
            <a:ext cx="620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6814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45AEF-D755-B5B8-4AC8-60D2A8563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1416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EA181C-0B91-7522-C14D-932C0DCC2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332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C473CB-E9D2-5583-5562-898082546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160" y="-77153"/>
            <a:ext cx="12329160" cy="693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52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212</TotalTime>
  <Words>1971</Words>
  <Application>Microsoft Office PowerPoint</Application>
  <PresentationFormat>Widescreen</PresentationFormat>
  <Paragraphs>340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Aptos</vt:lpstr>
      <vt:lpstr>Aptos Display</vt:lpstr>
      <vt:lpstr>Arial</vt:lpstr>
      <vt:lpstr>Arial Narrow</vt:lpstr>
      <vt:lpstr>Arial Unicode MS</vt:lpstr>
      <vt:lpstr>Segoe UI Emoji</vt:lpstr>
      <vt:lpstr>Segoe UI Symbol</vt:lpstr>
      <vt:lpstr>Symbol</vt:lpstr>
      <vt:lpstr>Office Theme</vt:lpstr>
      <vt:lpstr>SOLID (Principles) </vt:lpstr>
      <vt:lpstr>PowerPoint Presentation</vt:lpstr>
      <vt:lpstr> </vt:lpstr>
      <vt:lpstr>                                                                                    SOLID S — Single Responsibility Principle (SRP) do not put feet into two boats  O — Open/Closed Principle (OCP) we should always learn new things but never forget your values and cutltures  L — Liskov Substitution Principle (LSP) you should be easily able to fit into something   I — Interface Segregation Principle (ISP)  D — Dependency Inversion Principle (DIP)                           </vt:lpstr>
      <vt:lpstr> </vt:lpstr>
      <vt:lpstr>PowerPoint Presentation</vt:lpstr>
      <vt:lpstr> </vt:lpstr>
      <vt:lpstr>PowerPoint Presentation</vt:lpstr>
      <vt:lpstr> </vt:lpstr>
      <vt:lpstr> </vt:lpstr>
      <vt:lpstr> if (type == "sparrow") … else if (type == "crow") … This becomes a big SRP violation.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5</cp:revision>
  <dcterms:created xsi:type="dcterms:W3CDTF">2025-11-21T19:02:24Z</dcterms:created>
  <dcterms:modified xsi:type="dcterms:W3CDTF">2025-11-24T16:44:29Z</dcterms:modified>
</cp:coreProperties>
</file>